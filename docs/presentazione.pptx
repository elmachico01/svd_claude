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Steganografia di Immagini basata su SVD</a:t>
            </a:r>
          </a:p>
          <a:p>
            <a:r>
              <a:rPr sz="4000" b="1" i="0">
                <a:solidFill>
                  <a:srgbClr val="FFFFFF"/>
                </a:solidFill>
                <a:latin typeface="Calibri"/>
              </a:rPr>
              <a:t>con guida YOLO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700" b="0" i="0">
                <a:solidFill>
                  <a:srgbClr val="BCD3EA"/>
                </a:solidFill>
                <a:latin typeface="Calibri"/>
              </a:rPr>
              <a:t>Compressione e occultamento di informazione mediante Decomposizione ai Valori Singolari,
con embedding adattivo al contenuto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50" b="0" i="0">
                <a:solidFill>
                  <a:srgbClr val="9AAEC4"/>
                </a:solidFill>
                <a:latin typeface="Calibri"/>
              </a:rPr>
              <a:t>Statistical and Mathematical Methods for AI  ·  Prof. M. Popolizio</a:t>
            </a:r>
          </a:p>
          <a:p>
            <a:r>
              <a:rPr sz="1350" b="0" i="0">
                <a:solidFill>
                  <a:srgbClr val="9AAEC4"/>
                </a:solidFill>
                <a:latin typeface="Calibri"/>
              </a:rPr>
              <a:t>Valutazione su 128 immagini reali del dataset COCO-128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INTRODUZIONE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Steganografia = nascondere un'informazione dentro un'immagine cover in modo impercettibile (≠ crittografia: non solo illeggibile, ma invisibile).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Tre requisiti in tensione tra loro: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55F6B"/>
                </a:solidFill>
                <a:latin typeface="Calibri"/>
              </a:rPr>
              <a:t>–  Impercettibilità — il cover non deve cambiare visibilmente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55F6B"/>
                </a:solidFill>
                <a:latin typeface="Calibri"/>
              </a:rPr>
              <a:t>–  Capacità — quanti bit possiamo nascondere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55F6B"/>
                </a:solidFill>
                <a:latin typeface="Calibri"/>
              </a:rPr>
              <a:t>–  Robustezza — il segreto deve sopravvivere agli attacchi (JPEG, rumore…)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Idea: usare la SVD (cuore del corso) come compressione del segreto e dominio di embedding, e YOLO per rendere l'occultamento adattivo al contenuto.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BACKGROUND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Perché la SVD: teoria del corso</a:t>
            </a:r>
          </a:p>
        </p:txBody>
      </p:sp>
      <p:pic>
        <p:nvPicPr>
          <p:cNvPr id="5" name="Picture 4" descr="fig_eckart_yo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64708"/>
            <a:ext cx="7680960" cy="26943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7680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Eckart–Young: l'errore di approssimazione misurato coincide con la teoria; il footprint k(m+n+1)/mn cresce linearmente con 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3566160" cy="457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A = U Σ V^T, valori singolari in ordine decrescente.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SVD troncata = migliore approssimazione di rango k (Eckart–Young).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Poche componenti catturano quasi tutta l'energia.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Il valore singolare massimo è la componente più stabile.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METODO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Idea 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1)  Il segreto è compresso con SVD troncata in fattori compatti (U, σ, V).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2)  YOLO rileva gli oggetti e costruisce una mappa di priorità (saliency).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3)  Il payload è nascosto nei blocchi del cover modulando il valore singolare massimo (QIM) — un bit per blocco, lo sfondo per primo.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4)  Estrazione cieca → ricostruzione del segreto via SVD inversa.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5)  YOLO è riapplicato su cover e stego per misurare la preservazione semantica.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METODO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La SVD due volte / 1: compressione del segreto</a:t>
            </a:r>
          </a:p>
        </p:txBody>
      </p:sp>
      <p:pic>
        <p:nvPicPr>
          <p:cNvPr id="5" name="Picture 4" descr="fig_secret_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02683"/>
            <a:ext cx="7680960" cy="14183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7680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Aumentando il rango k cresce la fedeltà (NC) ma anche il payload: è il compromesso qualità–memoria della SVD troncata.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3566160" cy="457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Riduzione di dimensionalità (lezione).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Payload k(m+n+1), molto minore di m·n.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Fattori quantizzati: U,V → int8, σ → float16.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k=10 → 99,1% energia, payload ~1,3 kB.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METODO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La SVD due volte / 2: embedding QIM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Il cover è diviso in blocchi B×B; di ognuno si calcola la SVD.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Un bit è codificato nel valore singolare massimo con passo Δ (Quantisation Index Modulation), poi il blocco è ricostruito.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Perché il valore singolare massimo: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55F6B"/>
                </a:solidFill>
                <a:latin typeface="Calibri"/>
              </a:rPr>
              <a:t>–  concentra l'energia del blocco (Eckart–Young) → robusto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55F6B"/>
                </a:solidFill>
                <a:latin typeface="Calibri"/>
              </a:rPr>
              <a:t>–  la distorsione |δ| si distribuisce su tutto il blocco → impercettibile per pixel</a:t>
            </a:r>
          </a:p>
          <a:p>
            <a:pPr>
              <a:spcAft>
                <a:spcPts val="900"/>
              </a:spcAft>
            </a:pPr>
            <a:r>
              <a:rPr sz="1900" b="0" i="0">
                <a:solidFill>
                  <a:srgbClr val="1F3555"/>
                </a:solidFill>
                <a:latin typeface="Calibri"/>
              </a:rPr>
              <a:t>•  Decodifica cieca (parte frazionaria, soglia 0,5); margine di robustezza Δ/4; codice a ripetizione ×R + voto di maggioranza.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METODO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Guida YOLO: l'embedding evita gli oggetti</a:t>
            </a:r>
          </a:p>
        </p:txBody>
      </p:sp>
      <p:pic>
        <p:nvPicPr>
          <p:cNvPr id="5" name="Picture 4" descr="fig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230" y="1371600"/>
            <a:ext cx="7596500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Per ogni esempio: cover, stego, differenza amplificata |cover−stego|, saliency YOLO, segreto recuperato. Le modifiche evitano nettamente le regioni degli oggetti.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ESPERIMENTI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Due punti operativi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5448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Parametro</a:t>
                      </a:r>
                    </a:p>
                  </a:txBody>
                  <a:tcPr marL="101600" marR="76200" marT="50800" marB="50800" anchor="ctr">
                    <a:solidFill>
                      <a:srgbClr val="1F3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High-Capacity (HC)</a:t>
                      </a:r>
                    </a:p>
                  </a:txBody>
                  <a:tcPr marL="101600" marR="76200" marT="50800" marB="50800" anchor="ctr">
                    <a:solidFill>
                      <a:srgbClr val="1F3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Robust (RB)</a:t>
                      </a:r>
                    </a:p>
                  </a:txBody>
                  <a:tcPr marL="101600" marR="76200" marT="50800" marB="50800" anchor="ctr">
                    <a:solidFill>
                      <a:srgbClr val="1F355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F3555"/>
                          </a:solidFill>
                          <a:latin typeface="Calibri"/>
                        </a:rPr>
                        <a:t>Lato blocco SVD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8×8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16×16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F3555"/>
                          </a:solidFill>
                          <a:latin typeface="Calibri"/>
                        </a:rPr>
                        <a:t>Passo QIM Δ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24.0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128.0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F3555"/>
                          </a:solidFill>
                          <a:latin typeface="Calibri"/>
                        </a:rPr>
                        <a:t>Ripetizione R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F3555"/>
                          </a:solidFill>
                          <a:latin typeface="Calibri"/>
                        </a:rPr>
                        <a:t>Segreto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64², rango k=10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16², rango k=3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F3555"/>
                          </a:solidFill>
                          <a:latin typeface="Calibri"/>
                        </a:rPr>
                        <a:t>Capacità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0.0469 bpp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0.0039 bpp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F3555"/>
                          </a:solidFill>
                          <a:latin typeface="Calibri"/>
                        </a:rPr>
                        <a:t>Obiettivo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capacità + impercettibilità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555F6B"/>
                          </a:solidFill>
                          <a:latin typeface="Calibri"/>
                        </a:rPr>
                        <a:t>robustezza</a:t>
                      </a:r>
                    </a:p>
                  </a:txBody>
                  <a:tcPr marL="101600" marR="76200" marT="50800" marB="50800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5778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500" b="0" i="1">
                <a:solidFill>
                  <a:srgbClr val="555F6B"/>
                </a:solidFill>
                <a:latin typeface="Calibri"/>
              </a:rPr>
              <a:t>Le tre leve sono tutte di natura SVD: blocco B, passo Δ e ripetizione R spostano il sistema lungo il fronte capacità–robustezza.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RISULTATI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Impercettibilità (HC)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2E6DA4"/>
                </a:solidFill>
                <a:latin typeface="Calibri"/>
              </a:rPr>
              <a:t>47.39 dB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PSNR cover→stego</a:t>
            </a:r>
          </a:p>
        </p:txBody>
      </p:sp>
      <p:sp>
        <p:nvSpPr>
          <p:cNvPr id="6" name="Rectangle 5"/>
          <p:cNvSpPr/>
          <p:nvPr/>
        </p:nvSpPr>
        <p:spPr>
          <a:xfrm>
            <a:off x="3402253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2E6DA4"/>
                </a:solidFill>
                <a:latin typeface="Calibri"/>
              </a:rPr>
              <a:t>0.9950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SSIM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255866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2E6DA4"/>
                </a:solidFill>
                <a:latin typeface="Calibri"/>
              </a:rPr>
              <a:t>0.0469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capacità (bpp)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09479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2E6DA4"/>
                </a:solidFill>
                <a:latin typeface="Calibri"/>
              </a:rPr>
              <a:t>10472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bit nascosti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110642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600" b="0" i="0">
                <a:solidFill>
                  <a:srgbClr val="1F3555"/>
                </a:solidFill>
                <a:latin typeface="Calibri"/>
              </a:rPr>
              <a:t>Su 128 immagini cover e stego sono indistinguibili (deviazione standard PSNR appena 0.13 dB). La modalità RB scende a 39.04 dB per essere robusta.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RISULTATI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Risultato chiave: protezione degli oggetti</a:t>
            </a:r>
          </a:p>
        </p:txBody>
      </p:sp>
      <p:pic>
        <p:nvPicPr>
          <p:cNvPr id="5" name="Picture 4" descr="fig_object_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64708"/>
            <a:ext cx="7680960" cy="26943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7680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PSNR per regione: la guida YOLO alza il PSNR sugli oggetti e abbassa quello sullo sfondo, dove i dati sono nascosti.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3566160" cy="457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PSNR oggetti: 47.40 → 50.40 dB.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I bit finiscono nello sfondo.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Migliora nel 96,8% delle immagini.</a:t>
            </a: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1F3555"/>
                </a:solidFill>
                <a:latin typeface="Calibri"/>
              </a:rPr>
              <a:t>•  A parità di capacità.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RISULTATI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Preservazione semantica a valle (downstream)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3A8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3A8C4E"/>
                </a:solidFill>
                <a:latin typeface="Calibri"/>
              </a:rPr>
              <a:t>0.961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preservation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02253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3A8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3A8C4E"/>
                </a:solidFill>
                <a:latin typeface="Calibri"/>
              </a:rPr>
              <a:t>0.959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mAP@0.5 stego vs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55866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3A8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3A8C4E"/>
                </a:solidFill>
                <a:latin typeface="Calibri"/>
              </a:rPr>
              <a:t>0.986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IoU medio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09479" y="2194560"/>
            <a:ext cx="2533573" cy="2286000"/>
          </a:xfrm>
          <a:prstGeom prst="rect">
            <a:avLst/>
          </a:prstGeom>
          <a:solidFill>
            <a:srgbClr val="EEF2F6"/>
          </a:solidFill>
          <a:ln w="28575">
            <a:solidFill>
              <a:srgbClr val="3A8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 i="0">
                <a:solidFill>
                  <a:srgbClr val="3A8C4E"/>
                </a:solidFill>
                <a:latin typeface="Calibri"/>
              </a:rPr>
              <a:t>0.016</a:t>
            </a:r>
          </a:p>
          <a:p>
            <a:pPr algn="ctr"/>
            <a:r>
              <a:rPr sz="1400" b="0" i="0">
                <a:solidFill>
                  <a:srgbClr val="555F6B"/>
                </a:solidFill>
                <a:latin typeface="Calibri"/>
              </a:rPr>
              <a:t>|Δ confidenza|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110642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600" b="0" i="0">
                <a:solidFill>
                  <a:srgbClr val="1F3555"/>
                </a:solidFill>
                <a:latin typeface="Calibri"/>
              </a:rPr>
              <a:t>Le rilevazioni di YOLO si conservano quasi perfettamente: lo stego resta usabile in una pipeline di AI a valle.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1200" b="1" i="0">
                <a:solidFill>
                  <a:srgbClr val="CFA83C"/>
                </a:solidFill>
                <a:latin typeface="Calibri"/>
              </a:rPr>
              <a:t>RISULTATI   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Robustezza e compromesso capacità–robustezza</a:t>
            </a:r>
          </a:p>
        </p:txBody>
      </p:sp>
      <p:pic>
        <p:nvPicPr>
          <p:cNvPr id="5" name="Picture 4" descr="fi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607554"/>
            <a:ext cx="5715000" cy="1917211"/>
          </a:xfrm>
          <a:prstGeom prst="rect">
            <a:avLst/>
          </a:prstGeom>
        </p:spPr>
      </p:pic>
      <p:pic>
        <p:nvPicPr>
          <p:cNvPr id="6" name="Picture 5" descr="fig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35752"/>
            <a:ext cx="5715000" cy="4060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5897880"/>
            <a:ext cx="5715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RB resiste agli attacchi (es. JPEG-q90 NC=0.91); HC, senza ridondanza, è fragile.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5897880"/>
            <a:ext cx="5715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Fronte di Pareto: i due punti operativi agli estremi di capacità e robustezza.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2011680" cy="73152"/>
          </a:xfrm>
          <a:prstGeom prst="rect">
            <a:avLst/>
          </a:prstGeom>
          <a:solidFill>
            <a:srgbClr val="CF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Conclusioni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1097280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DDE6F0"/>
                </a:solidFill>
                <a:latin typeface="Calibri"/>
              </a:rPr>
              <a:t>•  La SVD offre un quadro unificato: compressione del segreto (Eckart–Young), dominio di embedding robusto (valore singolare massimo) e analisi del condizionamento.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DDE6F0"/>
                </a:solidFill>
                <a:latin typeface="Calibri"/>
              </a:rPr>
              <a:t>•  Impercettibilità elevata (PSNR ≈ 47.39 dB) e preservazione semantica quasi perfetta (mAP ≈ 0.96).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DDE6F0"/>
                </a:solidFill>
                <a:latin typeface="Calibri"/>
              </a:rPr>
              <a:t>•  La guida YOLO protegge le regioni salienti senza costare capacità.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DDE6F0"/>
                </a:solidFill>
                <a:latin typeface="Calibri"/>
              </a:rPr>
              <a:t>•  Compromesso capacità–robustezza governato da tre leve SVD: blocco B, passo Δ, ripetizione R.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DDE6F0"/>
                </a:solidFill>
                <a:latin typeface="Calibri"/>
              </a:rPr>
              <a:t>•  Risultati riproducibili su 128 immagini reali di COCO-128.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