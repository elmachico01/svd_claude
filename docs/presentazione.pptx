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SVD &amp; YOLO per la Steganografia di Immagini</a:t>
            </a:r>
          </a:p>
          <a:p>
            <a:pPr>
              <a:defRPr sz="2000">
                <a:solidFill>
                  <a:srgbClr val="BCD3EA"/>
                </a:solidFill>
              </a:defRPr>
            </a:pPr>
            <a:r>
              <a:t>Compressione e occultamento basati sulla Decomposizione ai Valori Singolari,</a:t>
            </a:r>
            <a:br/>
            <a:r>
              <a:t>con embedding guidato da YOLO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AAEC4"/>
                </a:solidFill>
              </a:defRPr>
            </a:pPr>
            <a:r>
              <a:t>Statistical and Mathematical Methods for AI  ·  Prof. M. Popolizio  ·  valutazione su 128 immagini COCO-128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Steganografia = nascondere un'informazione dentro un'immagine cover in modo impercettibile (≠ crittografia: non solo illeggibile, ma invisibile).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Tre requisiti in tensione tra loro:</a:t>
            </a:r>
          </a:p>
          <a:p>
            <a:pPr lvl="1">
              <a:spcAft>
                <a:spcPts val="800"/>
              </a:spcAft>
              <a:defRPr sz="1700">
                <a:solidFill>
                  <a:srgbClr val="555F6B"/>
                </a:solidFill>
              </a:defRPr>
            </a:pPr>
            <a:r>
              <a:t>– Impercettibilità — il cover non deve cambiare visibilmente</a:t>
            </a:r>
          </a:p>
          <a:p>
            <a:pPr lvl="1">
              <a:spcAft>
                <a:spcPts val="800"/>
              </a:spcAft>
              <a:defRPr sz="1700">
                <a:solidFill>
                  <a:srgbClr val="555F6B"/>
                </a:solidFill>
              </a:defRPr>
            </a:pPr>
            <a:r>
              <a:t>– Capacità — quanti bit possiamo nascondere</a:t>
            </a:r>
          </a:p>
          <a:p>
            <a:pPr lvl="1">
              <a:spcAft>
                <a:spcPts val="800"/>
              </a:spcAft>
              <a:defRPr sz="1700">
                <a:solidFill>
                  <a:srgbClr val="555F6B"/>
                </a:solidFill>
              </a:defRPr>
            </a:pPr>
            <a:r>
              <a:t>– Robustezza — il segreto deve sopravvivere ad attacchi (JPEG, rumore…)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Obiettivo: usare la SVD (cuore del corso) come compressione del segreto e dominio di embedding, e YOLO per rendere l'occultamento adattivo al contenuto.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Perché la SVD (teoria del corso)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555F6B"/>
                </a:solidFill>
              </a:defRPr>
            </a:pPr>
            <a:r>
              <a:t>La SVD compare due volte nel progetto: compressione del segreto + dominio di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Ogni matrice: A = U Σ Vᵀ, con σ₁ ≥ σ₂ ≥ … ≥ σ_r &gt; 0.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SVD troncata: A_k = Σ_{i≤k} σ_i u_i v_iᵀ.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Teorema di Eckart–Young: A_k è la migliore approssimazione di rango k (‖A−A_k‖₂ = σ_{k+1}, ‖A−A_k‖_F = (Σ_{i&gt;k} σ_i²)^½).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Compressione: footprint k(m+n+1) contro m·n.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σ₁ concentra l'energia ⇒ componente robusta; i σ piccoli amplificano il rumore (condizionamento κ = σ₁/σ_r).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Idea 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1) Il segreto viene compresso con SVD troncata → fattori compatti (U_k, σ_k, V_kᵀ).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2) Il payload (bitstream) viene nascosto nei blocchi del cover modulando σ₁ (QIM) — un bit per blocco.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3) YOLO rileva gli oggetti → mappa di saliency → i bit vanno nello sfondo, gli oggetti restano intatti.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4) Estrazione cieca → ricostruzione del segreto via SVD inversa.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5) YOLO ri-applicato su cover e stego per misurare la preservazione semantica.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Compressione del segreto: SVD troncata</a:t>
            </a:r>
          </a:p>
        </p:txBody>
      </p:sp>
      <p:pic>
        <p:nvPicPr>
          <p:cNvPr id="4" name="Picture 3" descr="fig_secret_reconstru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863840" cy="1452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823764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555F6B"/>
                </a:solidFill>
              </a:defRPr>
            </a:pPr>
            <a:r>
              <a:t>Aumentando il rango k cresce la fedeltà (NC) ma anche il payload.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3555"/>
                </a:solidFill>
              </a:defRPr>
            </a:pPr>
            <a:r>
              <a:t>• Riduzione di dimensionalità (lezione)</a:t>
            </a:r>
          </a:p>
          <a:p>
            <a:pPr>
              <a:spcAft>
                <a:spcPts val="800"/>
              </a:spcAft>
              <a:defRPr sz="1500">
                <a:solidFill>
                  <a:srgbClr val="1F3555"/>
                </a:solidFill>
              </a:defRPr>
            </a:pPr>
            <a:r>
              <a:t>• Payload: k(m+n+1) ≪ m·n</a:t>
            </a:r>
          </a:p>
          <a:p>
            <a:pPr>
              <a:spcAft>
                <a:spcPts val="800"/>
              </a:spcAft>
              <a:defRPr sz="1500">
                <a:solidFill>
                  <a:srgbClr val="1F3555"/>
                </a:solidFill>
              </a:defRPr>
            </a:pPr>
            <a:r>
              <a:t>• Quantizzazione U,V→int8, σ→float16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Eckart–Young: teoria verificata</a:t>
            </a:r>
          </a:p>
        </p:txBody>
      </p:sp>
      <p:pic>
        <p:nvPicPr>
          <p:cNvPr id="4" name="Picture 3" descr="fig_eckart_yo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1325880"/>
            <a:ext cx="10789920" cy="37849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0887" y="5156511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555F6B"/>
                </a:solidFill>
              </a:defRPr>
            </a:pPr>
            <a:r>
              <a:t>Errore di approssimazione teorico vs misurato e fattore di compressione.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Perché proprio i valori singolari (e perché σ₁)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555F6B"/>
                </a:solidFill>
              </a:defRPr>
            </a:pPr>
            <a:r>
              <a:t>Il punto sollevato dalla teoria del corso: piccoli σ = componenti instabili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Concentrazione di energia (Eckart–Young): nei blocchi naturali σ₁² raccoglie il 95–99 % di ‖A‖_F² = Σσᵢ² ⇒ σ₁ è la coordinata più significativa del blocco nella base {uᵢvᵢᵀ}.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Stabilità (Weyl): una perturbazione E sposta tutti i σᵢ di ≤ ‖E‖₂ in assoluto ⇒ perturbazione relativa minima su σ₁, enorme sui σᵢ piccoli (che 'amplificano il rumore', come visto a lezione).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Invarianza: i σᵢ non cambiano per trasformazioni ortogonali del blocco — descrittore intrinseco dell'energia.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Distorsione distribuita: variare σ₁ di δ cambia il blocco di δ·u₁v₁ᵀ, norma |δ| spalmata su B² pixel lungo la componente più liscia; toccare un σᵢ piccolo inietterebbe rumore ad alta frequenza, visibile.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Embedding nel dominio SVD (QIM su σ₁)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Serializzazione: header 9 byte (magic, h, w, k) + σ in float16 + U_k, V_kᵀ in int8 (norma unitaria ⇒ elementi in [−1,1], scala fissa 127).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Ordine dei blocchi: chiave PRNG + mappa di priorità YOLO (sfondo prima).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Per ogni blocco B×B: A = UΣVᵀ; un bit in σ₁ con passo Δ:</a:t>
            </a:r>
          </a:p>
          <a:p>
            <a:pPr lvl="1">
              <a:spcAft>
                <a:spcPts val="800"/>
              </a:spcAft>
              <a:defRPr sz="1700">
                <a:solidFill>
                  <a:srgbClr val="555F6B"/>
                </a:solidFill>
              </a:defRPr>
            </a:pPr>
            <a:r>
              <a:t>– σ₁' = ⌊σ₁/Δ⌋·Δ + 0.25Δ (bit 0)  oppure  + 0.75Δ (bit 1)</a:t>
            </a:r>
          </a:p>
          <a:p>
            <a:pPr lvl="1">
              <a:spcAft>
                <a:spcPts val="800"/>
              </a:spcAft>
              <a:defRPr sz="1700">
                <a:solidFill>
                  <a:srgbClr val="555F6B"/>
                </a:solidFill>
              </a:defRPr>
            </a:pPr>
            <a:r>
              <a:t>– 0.25 e 0.75 = centri delle due semicelle ⇒ margine simmetrico e massimo Δ/4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Ricostruzione A' = UΣ'Vᵀ: cambia solo σ₁, i vettori singolari restano invariati.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Codice a ripetizione (×R): ogni bit logico scritto in R siti consecutivi.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Decodifica cieca (estrazione)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Non servono né il cover né i σ originali (≠ Liu–Tan, che conserva U,V): solo chiave, parametri (B, Δ, R) e mappa di priorità.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Stesso ordinamento dei blocchi ⇒ per ogni blocco: SVD e decisione dalla parte frazionaria di σ₁/Δ:</a:t>
            </a:r>
          </a:p>
          <a:p>
            <a:pPr lvl="1">
              <a:spcAft>
                <a:spcPts val="800"/>
              </a:spcAft>
              <a:defRPr sz="1700">
                <a:solidFill>
                  <a:srgbClr val="555F6B"/>
                </a:solidFill>
              </a:defRPr>
            </a:pPr>
            <a:r>
              <a:t>– bit = 0 se (σ₁/Δ mod 1) &lt; 0.5, altrimenti 1 — cella di decisione Δ/2, valore embedded al centro ⇒ corretto finché |spostamento di σ₁| &lt; Δ/4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Prima i 72 bit dell'header → (h, w, k) → lunghezza esatta del payload; poi voto di maggioranza sugli R siti di ogni bit.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Ricostruzione Ŝ = Ũ_k·diag(σ̃)·Ṽ_kᵀ, clip in [0,255]; i σ corrotti (NaN/inf) vengono azzerati ⇒ degrado graduale, mai esplosione.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Effetto delle perturbazioni: teorema di Weyl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555F6B"/>
                </a:solidFill>
              </a:defRPr>
            </a:pPr>
            <a:r>
              <a:t>I risultati sperimentali sono previsti dalla teoria, non solo osservati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Attacco = perturbazione E del blocco:  |σᵢ(A'+E) − σᵢ(A')| ≤ ‖E‖₂  ∀i.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Condizione di decodifica corretta: ‖E‖₂ &lt; Δ/4 (margine QIM).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Rumore gaussiano σ_n: ‖E‖₂ ≈ 2σ_n√B. Con σ_n = 5:</a:t>
            </a:r>
          </a:p>
          <a:p>
            <a:pPr lvl="1">
              <a:spcAft>
                <a:spcPts val="800"/>
              </a:spcAft>
              <a:defRPr sz="1700">
                <a:solidFill>
                  <a:srgbClr val="555F6B"/>
                </a:solidFill>
              </a:defRPr>
            </a:pPr>
            <a:r>
              <a:t>– HC: margine Δ/4 = 6 contro ‖E‖₂ ≈ 28 ⇒ fragile (BER misurato 0.37)</a:t>
            </a:r>
          </a:p>
          <a:p>
            <a:pPr lvl="1">
              <a:spcAft>
                <a:spcPts val="800"/>
              </a:spcAft>
              <a:defRPr sz="1700">
                <a:solidFill>
                  <a:srgbClr val="555F6B"/>
                </a:solidFill>
              </a:defRPr>
            </a:pPr>
            <a:r>
              <a:t>– RB: margine Δ/4 = 32 contro ‖E‖₂ ≈ 40 ⇒ errori sporadici, corretti dal voto (BER 0.003)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Ricostruzione: errore = troncamento (Eckart–Young, tetto in pulito) + quantizzazione (trascurabile) + errori di bit (U/V graduali, σ e header critici ⇒ header nei primi siti + ripetizione).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Scelta dei parametri: teoria vs misura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Δ — distorsione prevista: E[δ²] = 7Δ²/48 (fase uniforme) ⇒ PSNR atteso = 10·log₁₀(255²·B²/(α·7Δ²/48)):</a:t>
            </a:r>
          </a:p>
          <a:p>
            <a:pPr lvl="1">
              <a:spcAft>
                <a:spcPts val="800"/>
              </a:spcAft>
              <a:defRPr sz="1700">
                <a:solidFill>
                  <a:srgbClr val="555F6B"/>
                </a:solidFill>
              </a:defRPr>
            </a:pPr>
            <a:r>
              <a:t>– HC: atteso 47.6 dB, misurato 47.4 dB · RB: atteso 39.0 dB, misurato 39.0 dB (scarto &lt; 0.3 dB)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Δ — robustezza (Weyl): Δ &gt; 8σ_n√B ⇒ RB tollera σ_n ≈ 4, HC solo ≈ 0.75.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B — capacità 3(N/B)²: 12288 siti (B=8) vs 3072 (B=16); ma σ₁ ≈ cB cresce come B mentre ‖E‖₂ solo come √B ⇒ blocchi grandi più robusti.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k — criterio dell'energia: k=10 è il minimo con E(k) ≥ 99 % (E(10)=99.1 %); vincolo di capacità: 10472 bit su 12288 (k=12 non entrerebbe). In RB k=3 è il massimo compatibile con R=3.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R — dispari (maggioranza senza pareggi): errore logico ≈ 3p² con R=3 (p=5 % → 0.7 %), al costo di 1/3 della capacità.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Setup sperimentale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Dataset: COCO-128 — 128 immagini reali di COCO, cover 512×512.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Due punti operativi:</a:t>
            </a:r>
          </a:p>
          <a:p>
            <a:pPr lvl="1">
              <a:spcAft>
                <a:spcPts val="800"/>
              </a:spcAft>
              <a:defRPr sz="1700">
                <a:solidFill>
                  <a:srgbClr val="555F6B"/>
                </a:solidFill>
              </a:defRPr>
            </a:pPr>
            <a:r>
              <a:t>– High-Capacity (HC): blocco 8×8, Δ=24.0, R=1, segreto 64², k=10</a:t>
            </a:r>
          </a:p>
          <a:p>
            <a:pPr lvl="1">
              <a:spcAft>
                <a:spcPts val="800"/>
              </a:spcAft>
              <a:defRPr sz="1700">
                <a:solidFill>
                  <a:srgbClr val="555F6B"/>
                </a:solidFill>
              </a:defRPr>
            </a:pPr>
            <a:r>
              <a:t>– Robust (RB): blocco 16×16, Δ=128.0, R=3, segreto 16², k=3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Metriche: PSNR, SSIM, MSE; NC e BER del segreto; mAP@0.5 / preservation rate.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Attacchi: JPEG q90/q75/q50, rumore gaussiano, blur, mediano, sale&amp;pepe, rescale.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Risultati — impercettibilità (HC)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2567863" cy="2377440"/>
          </a:xfrm>
          <a:prstGeom prst="rect">
            <a:avLst/>
          </a:prstGeom>
          <a:solidFill>
            <a:srgbClr val="F2F4F6"/>
          </a:solidFill>
          <a:ln w="254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2E6DA4"/>
                </a:solidFill>
              </a:defRPr>
            </a:pPr>
            <a:r>
              <a:t>47.39 dB</a:t>
            </a:r>
          </a:p>
          <a:p>
            <a:pPr algn="ctr">
              <a:defRPr sz="1400">
                <a:solidFill>
                  <a:srgbClr val="555F6B"/>
                </a:solidFill>
              </a:defRPr>
            </a:pPr>
            <a:r>
              <a:t>PSNR cover→stego</a:t>
            </a:r>
          </a:p>
        </p:txBody>
      </p:sp>
      <p:sp>
        <p:nvSpPr>
          <p:cNvPr id="5" name="Rectangle 4"/>
          <p:cNvSpPr/>
          <p:nvPr/>
        </p:nvSpPr>
        <p:spPr>
          <a:xfrm>
            <a:off x="3390823" y="2011680"/>
            <a:ext cx="2567863" cy="2377440"/>
          </a:xfrm>
          <a:prstGeom prst="rect">
            <a:avLst/>
          </a:prstGeom>
          <a:solidFill>
            <a:srgbClr val="F2F4F6"/>
          </a:solidFill>
          <a:ln w="254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2E6DA4"/>
                </a:solidFill>
              </a:defRPr>
            </a:pPr>
            <a:r>
              <a:t>0.9950</a:t>
            </a:r>
          </a:p>
          <a:p>
            <a:pPr algn="ctr">
              <a:defRPr sz="1400">
                <a:solidFill>
                  <a:srgbClr val="555F6B"/>
                </a:solidFill>
              </a:defRPr>
            </a:pPr>
            <a:r>
              <a:t>SSIM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2011680"/>
            <a:ext cx="2567863" cy="2377440"/>
          </a:xfrm>
          <a:prstGeom prst="rect">
            <a:avLst/>
          </a:prstGeom>
          <a:solidFill>
            <a:srgbClr val="F2F4F6"/>
          </a:solidFill>
          <a:ln w="254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2E6DA4"/>
                </a:solidFill>
              </a:defRPr>
            </a:pPr>
            <a:r>
              <a:t>0.0469</a:t>
            </a:r>
          </a:p>
          <a:p>
            <a:pPr algn="ctr">
              <a:defRPr sz="1400">
                <a:solidFill>
                  <a:srgbClr val="555F6B"/>
                </a:solidFill>
              </a:defRPr>
            </a:pPr>
            <a:r>
              <a:t>capacità (bpp)</a:t>
            </a:r>
          </a:p>
        </p:txBody>
      </p:sp>
      <p:sp>
        <p:nvSpPr>
          <p:cNvPr id="7" name="Rectangle 6"/>
          <p:cNvSpPr/>
          <p:nvPr/>
        </p:nvSpPr>
        <p:spPr>
          <a:xfrm>
            <a:off x="9075191" y="2011680"/>
            <a:ext cx="2567863" cy="2377440"/>
          </a:xfrm>
          <a:prstGeom prst="rect">
            <a:avLst/>
          </a:prstGeom>
          <a:solidFill>
            <a:srgbClr val="F2F4F6"/>
          </a:solidFill>
          <a:ln w="254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2E6DA4"/>
                </a:solidFill>
              </a:defRPr>
            </a:pPr>
            <a:r>
              <a:t>0.923</a:t>
            </a:r>
          </a:p>
          <a:p>
            <a:pPr algn="ctr">
              <a:defRPr sz="1400">
                <a:solidFill>
                  <a:srgbClr val="555F6B"/>
                </a:solidFill>
              </a:defRPr>
            </a:pPr>
            <a:r>
              <a:t>NC segreto (pulito)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Risultato chiave — protezione oggetti via YOLO</a:t>
            </a:r>
          </a:p>
        </p:txBody>
      </p:sp>
      <p:pic>
        <p:nvPicPr>
          <p:cNvPr id="4" name="Picture 3" descr="fig_object_pro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863840" cy="27584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30095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555F6B"/>
                </a:solidFill>
              </a:defRPr>
            </a:pPr>
            <a:r>
              <a:t>PSNR oggetti: 47.40 → 50.39 dB con la guida YOLO.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3555"/>
                </a:solidFill>
              </a:defRPr>
            </a:pPr>
            <a:r>
              <a:t>• I bit vanno nello sfondo</a:t>
            </a:r>
          </a:p>
          <a:p>
            <a:pPr>
              <a:spcAft>
                <a:spcPts val="800"/>
              </a:spcAft>
              <a:defRPr sz="1500">
                <a:solidFill>
                  <a:srgbClr val="1F3555"/>
                </a:solidFill>
              </a:defRPr>
            </a:pPr>
            <a:r>
              <a:t>• Oggetti quasi intatti</a:t>
            </a:r>
          </a:p>
          <a:p>
            <a:pPr>
              <a:spcAft>
                <a:spcPts val="800"/>
              </a:spcAft>
              <a:defRPr sz="1500">
                <a:solidFill>
                  <a:srgbClr val="1F3555"/>
                </a:solidFill>
              </a:defRPr>
            </a:pPr>
            <a:r>
              <a:t>• +2.99 dB sugli oggetti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Risultato qualitativo</a:t>
            </a:r>
          </a:p>
        </p:txBody>
      </p:sp>
      <p:pic>
        <p:nvPicPr>
          <p:cNvPr id="4" name="Picture 3" descr="fig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968" y="1325880"/>
            <a:ext cx="781775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86968" y="6217920"/>
            <a:ext cx="78177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555F6B"/>
                </a:solidFill>
              </a:defRPr>
            </a:pPr>
            <a:r>
              <a:t>La mappa |cover−stego| evita le regioni degli oggetti rilevati da YOLO.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Preservazione semantica (downstream YOLO)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515258" cy="2377440"/>
          </a:xfrm>
          <a:prstGeom prst="rect">
            <a:avLst/>
          </a:prstGeom>
          <a:solidFill>
            <a:srgbClr val="F2F4F6"/>
          </a:solidFill>
          <a:ln w="254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2E6DA4"/>
                </a:solidFill>
              </a:defRPr>
            </a:pPr>
            <a:r>
              <a:t>0.961</a:t>
            </a:r>
          </a:p>
          <a:p>
            <a:pPr algn="ctr">
              <a:defRPr sz="1400">
                <a:solidFill>
                  <a:srgbClr val="555F6B"/>
                </a:solidFill>
              </a:defRPr>
            </a:pPr>
            <a:r>
              <a:t>preservation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338218" y="2011680"/>
            <a:ext cx="3515258" cy="2377440"/>
          </a:xfrm>
          <a:prstGeom prst="rect">
            <a:avLst/>
          </a:prstGeom>
          <a:solidFill>
            <a:srgbClr val="F2F4F6"/>
          </a:solidFill>
          <a:ln w="254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2E6DA4"/>
                </a:solidFill>
              </a:defRPr>
            </a:pPr>
            <a:r>
              <a:t>0.959</a:t>
            </a:r>
          </a:p>
          <a:p>
            <a:pPr algn="ctr">
              <a:defRPr sz="1400">
                <a:solidFill>
                  <a:srgbClr val="555F6B"/>
                </a:solidFill>
              </a:defRPr>
            </a:pPr>
            <a:r>
              <a:t>mAP@0.5 stego vs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127796" y="2011680"/>
            <a:ext cx="3515258" cy="2377440"/>
          </a:xfrm>
          <a:prstGeom prst="rect">
            <a:avLst/>
          </a:prstGeom>
          <a:solidFill>
            <a:srgbClr val="F2F4F6"/>
          </a:solidFill>
          <a:ln w="254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400" b="1">
                <a:solidFill>
                  <a:srgbClr val="2E6DA4"/>
                </a:solidFill>
              </a:defRPr>
            </a:pPr>
            <a:r>
              <a:t>0.016</a:t>
            </a:r>
          </a:p>
          <a:p>
            <a:pPr algn="ctr">
              <a:defRPr sz="1400">
                <a:solidFill>
                  <a:srgbClr val="555F6B"/>
                </a:solidFill>
              </a:defRPr>
            </a:pPr>
            <a:r>
              <a:t>|Δ confidenza| medio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Recupero del segreto e compressione</a:t>
            </a:r>
          </a:p>
        </p:txBody>
      </p:sp>
      <p:pic>
        <p:nvPicPr>
          <p:cNvPr id="4" name="Picture 3" descr="fig_secret_comp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1325880"/>
            <a:ext cx="10789920" cy="37849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0887" y="5156511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555F6B"/>
                </a:solidFill>
              </a:defRPr>
            </a:pPr>
            <a:r>
              <a:t>Il limite in pulito è dato dalla compressione SVD del segreto, non dall'estrazione.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Robustezza e compromesso capacità↔robustezza</a:t>
            </a:r>
          </a:p>
        </p:txBody>
      </p:sp>
      <p:pic>
        <p:nvPicPr>
          <p:cNvPr id="4" name="Picture 3" descr="fig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1325880"/>
            <a:ext cx="10789920" cy="3619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0887" y="4991295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555F6B"/>
                </a:solidFill>
              </a:defRPr>
            </a:pPr>
            <a:r>
              <a:t>RB resiste agli attacchi (es. JPEG-q90 NC=0.91); HC, senza ridondanza, è fragile.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Fronte di Pareto</a:t>
            </a:r>
          </a:p>
        </p:txBody>
      </p:sp>
      <p:pic>
        <p:nvPicPr>
          <p:cNvPr id="4" name="Picture 3" descr="fig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606" y="1325880"/>
            <a:ext cx="682048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85606" y="6217920"/>
            <a:ext cx="682048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555F6B"/>
                </a:solidFill>
              </a:defRPr>
            </a:pPr>
            <a:r>
              <a:t>Capacità (bpp) vs robustezza media (NC sotto attacco): due punti operativi.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Conclusioni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La SVD fornisce un quadro unificato: compressione del segreto (Eckart–Young), dominio di embedding robusto (σ₁), analisi del condizionamento.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Impercettibilità elevata (PSNR ≈ 47.39 dB) e preservazione semantica quasi perfetta (mAP ≈ 0.96).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La guida YOLO protegge le regioni salienti (+3.0 dB sugli oggetti) a parità di capacità.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PSNR e robustezza previsti dalla teoria (E[δ²]=7Δ²/48, Weyl ‖E‖₂&lt;Δ/4): scarto teoria–misura &lt; 0.3 dB.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Compromesso capacità↔robustezza governato da tre leve SVD: dimensione blocco, passo Δ, ridondanza R — tutte motivate teoricamente.</a:t>
            </a:r>
          </a:p>
          <a:p>
            <a:pPr>
              <a:spcAft>
                <a:spcPts val="800"/>
              </a:spcAft>
              <a:defRPr sz="2000">
                <a:solidFill>
                  <a:srgbClr val="1F3555"/>
                </a:solidFill>
              </a:defRPr>
            </a:pPr>
            <a:r>
              <a:t>• Codice e documentazione completi, riproducibili su 100+ immagini COCO.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